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Inter" panose="02000503000000020004" pitchFamily="2" charset="0"/>
      <p:regular r:id="rId25"/>
    </p:embeddedFont>
    <p:embeddedFont>
      <p:font typeface="Inter Medium" panose="02000503000000020004" pitchFamily="2" charset="0"/>
      <p:regular r:id="rId26"/>
    </p:embeddedFont>
    <p:embeddedFont>
      <p:font typeface="Inter SemiBold" panose="02000503000000020004" pitchFamily="2" charset="0"/>
      <p:bold r:id="rId27"/>
    </p:embeddedFont>
    <p:embeddedFont>
      <p:font typeface="Rubik" panose="02000604000000020004" pitchFamily="2" charset="-79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262"/>
    <a:srgbClr val="C2AB74"/>
    <a:srgbClr val="E5E5E5"/>
    <a:srgbClr val="F5F5F5"/>
    <a:srgbClr val="1F2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3408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E3DC6-F12A-4CBE-8D13-9439FEC022B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F357A-250F-4B73-9F65-9F4527075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8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60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C30B-8C19-E01E-4B56-B11DF4D4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75F84-6DA7-36BA-D7AC-F1402FFF2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FD8B6-08F8-78CD-93B8-563DD8D41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AAD37-6AAA-2C6D-BDEA-F2631E1EE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2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B9DC-116F-648E-FAB4-4DC78F72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8F086-5B57-9BFB-B6D4-44D2638A6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3C254-7C8F-B8D0-5B7C-5403CCAF1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D0E7C-FE59-4B1F-4C8F-4C5B44597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32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E883-C42C-B63D-ABC2-DC6CFC432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A9CD5-1A19-C73C-6A83-ECC69C44B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A8FE7-4195-5288-DD33-66EBB2875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D7E90-7662-6B73-4B86-B781D277E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14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26A9-6915-85EA-E78F-2744C321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C9D4E-FFDA-2427-1538-CDE61841C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97B1C-6227-3832-045F-23938F79B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FF89F-98D0-E0AC-59F9-B5FCF74DC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19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4810-1AB0-4112-3844-1D35A098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903E4-09A6-9C65-CC47-7F014473D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14752-4D30-5535-C2F5-9DCB7259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86E94-EE12-8468-039F-A396EF72B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8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C666-5664-0CF7-2AF3-D258F156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C3479-9A13-AF4D-B9CF-D0E84F3D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EA4D8-2F38-884B-1AC8-FF3B16CFF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71FAC-5DD1-DBD7-6A04-DB2FF8600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86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4175-F15B-2FFE-A77C-5DA4C384B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0C4B4-DF59-AC98-21C6-40257D26B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748DE-BA94-DAE1-10C0-11B92F162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1748A-5285-A21E-0B06-2E68B7907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F357A-250F-4B73-9F65-9F4527075F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18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962B-38A5-E86F-5AD3-F9B3851BC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48AF9-1A64-4F6C-0EB1-172E31D10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D679E-4257-A8A5-33D1-104E9FD7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236A-FF63-D317-8234-001943FB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2D77E-60A6-7B51-9EC8-B80F710BB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3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7D12-2D28-ED1A-9D40-749EE3EF9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EBA6D-D7A8-7C70-D89C-C9F11DBCC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6A020-A833-A054-E5A8-7BC01E75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4F8CB-E5E8-E5B1-14FE-652AB3DD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BE082-346B-C785-86A8-0031C9F1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6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5E09-3668-72AA-69E0-D58DA72C3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30B51-89CE-3570-C980-55F33C237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4A5C8-4488-B398-99E6-8BD58C3A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72270-197F-AA4D-02ED-3EABA218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3F2CC-66F8-C07A-0A96-EE4018E4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CC88-34F7-B828-9E34-2472AFB7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3AAF-5B93-161F-A905-1C23B5599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81A82-5BB6-DAE3-69C0-390E0BA05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179CD-E9D9-BABF-3DEF-FED563FE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BF050-1268-CC8B-9F57-C50DC378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B04E4-36EB-FAB9-B08D-DC8BDA75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92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4B9F-910B-508F-7B37-7515E68A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ACC8B-A800-BFA3-AC44-1F487893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3D5FC-FD07-7620-211B-B869FF835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E8FAF-F7ED-2CC9-9540-562AD658D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FFB0F-B147-DDE4-F657-78817C583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94A32-566D-696C-E8E8-AA970E845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E29272-49CA-6267-D9C3-72D01042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270C5-AC8D-1FA2-D4C6-93C349A5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1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E38F-3B1A-54B5-CB90-C1F3F79C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CEE8E-12C6-1963-86F6-32F638BDE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E245-325E-B74A-56A1-FFE10294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5D52D-FF79-0C3D-908C-0EF65145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4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F6923-60EB-3784-A66C-98F1E55F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BB69A-092D-D9F7-E69D-904C4BE6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3BB69-CFC0-BDE5-F082-A4B4DB192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2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3C91-4527-14F7-9208-E5DF1735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EF158-1E25-CC89-EA96-E32A6D61F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69202-A9BD-04DC-2D82-3C0E3E4D6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6ED5C-062A-C8C0-FB48-22F4FCF2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B7D82-040B-C277-E758-D4E3F227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06586-6CD2-E601-0368-B9F4FD43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89F9-5929-130B-A9B9-B27F1558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0B4888-65BE-2CA3-6942-F8808CD15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80D37-1FA7-FFB6-6E14-AB2396A23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D9E6F-9138-5DD6-F42C-8BC65E0AD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1FCFB-CFD5-A2D0-98B4-2D999B7F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B0810-48FF-50E9-917E-AC2B6432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26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3BD5-19D0-F80F-9CE4-99D57CFD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823AE-6E62-9B60-28E8-FB78C68A3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5646C-AB19-A9CC-150D-4B2332E5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7A370-4B7A-78C0-1B2B-FB775DE2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9D52D-94F7-4EAC-6CF8-576F0D19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4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3CDCB7-C9D6-D6D5-153E-98930C625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DF5EB-1377-A04E-2D90-668FAF43C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758C-3020-CA62-3658-9F3394302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50058-EDA4-C3F2-C501-6DCBC9A9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FE372-1B0D-7966-44DE-D2954910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0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4DEF1-EEFA-7B97-7E06-54357157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54F28-E684-1BF0-DE4D-220985B85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CDF9-EE09-DC62-6D34-132C0BA84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DE9AC-3BC2-4A78-A178-63E71C5582E8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4546A-3BB6-2BD1-676A-557C83DE6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C5B1E-F455-55F7-D86A-2ED89A55E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7F53A-0C1B-43A2-8E11-EF7188B3E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0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5.png"/><Relationship Id="rId7" Type="http://schemas.openxmlformats.org/officeDocument/2006/relationships/slide" Target="slide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image" Target="../media/image9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slide" Target="slide2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slide" Target="slide2.xml"/><Relationship Id="rId4" Type="http://schemas.openxmlformats.org/officeDocument/2006/relationships/slide" Target="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2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9.xml"/><Relationship Id="rId7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2.xml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2.xml"/><Relationship Id="rId4" Type="http://schemas.openxmlformats.org/officeDocument/2006/relationships/slide" Target="slide9.xml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C2A5E40-37EE-53FB-A6AB-F26A4C8ED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03041" y="3639552"/>
            <a:ext cx="1785914" cy="646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3B67B0-E36B-64B4-38FA-7CF6953D554F}"/>
              </a:ext>
            </a:extLst>
          </p:cNvPr>
          <p:cNvSpPr txBox="1"/>
          <p:nvPr/>
        </p:nvSpPr>
        <p:spPr>
          <a:xfrm>
            <a:off x="3474127" y="2782669"/>
            <a:ext cx="5243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Rubik" panose="02000604000000020004" pitchFamily="2" charset="-79"/>
                <a:cs typeface="Rubik" panose="02000604000000020004" pitchFamily="2" charset="-79"/>
              </a:rPr>
              <a:t>CAPSTONE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61387-9855-B83F-CAE3-2C437BD82F29}"/>
              </a:ext>
            </a:extLst>
          </p:cNvPr>
          <p:cNvSpPr txBox="1"/>
          <p:nvPr/>
        </p:nvSpPr>
        <p:spPr>
          <a:xfrm>
            <a:off x="4771757" y="5372888"/>
            <a:ext cx="264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ubik" panose="02000604000000020004" pitchFamily="2" charset="-79"/>
                <a:cs typeface="Rubik" panose="02000604000000020004" pitchFamily="2" charset="-79"/>
              </a:rPr>
              <a:t>Josh Kenshi M. </a:t>
            </a:r>
            <a:r>
              <a:rPr lang="en-US" dirty="0" err="1">
                <a:latin typeface="Rubik" panose="02000604000000020004" pitchFamily="2" charset="-79"/>
                <a:cs typeface="Rubik" panose="02000604000000020004" pitchFamily="2" charset="-79"/>
              </a:rPr>
              <a:t>Dimpas</a:t>
            </a:r>
            <a:endParaRPr lang="en-US" dirty="0">
              <a:latin typeface="Rubik" panose="02000604000000020004" pitchFamily="2" charset="-79"/>
              <a:cs typeface="Rubik" panose="02000604000000020004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40F88-3B50-7E41-2F90-06AC23B34C56}"/>
              </a:ext>
            </a:extLst>
          </p:cNvPr>
          <p:cNvSpPr txBox="1"/>
          <p:nvPr/>
        </p:nvSpPr>
        <p:spPr>
          <a:xfrm>
            <a:off x="4771757" y="3787836"/>
            <a:ext cx="45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C18118-4EA9-D96B-8E14-699EAE2F78DF}"/>
              </a:ext>
            </a:extLst>
          </p:cNvPr>
          <p:cNvSpPr/>
          <p:nvPr/>
        </p:nvSpPr>
        <p:spPr>
          <a:xfrm>
            <a:off x="0" y="-66294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22C11E-8F19-C9F4-E8CF-9FBC276E6344}"/>
              </a:ext>
            </a:extLst>
          </p:cNvPr>
          <p:cNvSpPr/>
          <p:nvPr/>
        </p:nvSpPr>
        <p:spPr>
          <a:xfrm>
            <a:off x="2161010" y="-530002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F5718F-CBE2-027C-12C8-8CE0C4BB69CB}"/>
              </a:ext>
            </a:extLst>
          </p:cNvPr>
          <p:cNvSpPr txBox="1"/>
          <p:nvPr/>
        </p:nvSpPr>
        <p:spPr>
          <a:xfrm>
            <a:off x="12626943" y="1261140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DFD9A1-9D73-0B70-89AD-BBB068E8F0CE}"/>
              </a:ext>
            </a:extLst>
          </p:cNvPr>
          <p:cNvCxnSpPr/>
          <p:nvPr/>
        </p:nvCxnSpPr>
        <p:spPr>
          <a:xfrm>
            <a:off x="12676282" y="2591895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C453544-A605-5664-1CAE-D629E8A65EA7}"/>
              </a:ext>
            </a:extLst>
          </p:cNvPr>
          <p:cNvSpPr txBox="1"/>
          <p:nvPr/>
        </p:nvSpPr>
        <p:spPr>
          <a:xfrm>
            <a:off x="12626943" y="1975738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167DBC-F04D-AE38-62F7-ABDD9D448ECB}"/>
              </a:ext>
            </a:extLst>
          </p:cNvPr>
          <p:cNvSpPr txBox="1"/>
          <p:nvPr/>
        </p:nvSpPr>
        <p:spPr>
          <a:xfrm>
            <a:off x="12676282" y="2679840"/>
            <a:ext cx="54250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can create a reimbursement Draft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the required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Drafts can be saved and edited before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prevents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Graceful error handling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DC02E5B-6FCD-63D3-0DA5-3CBEA18BEC54}"/>
              </a:ext>
            </a:extLst>
          </p:cNvPr>
          <p:cNvSpPr/>
          <p:nvPr/>
        </p:nvSpPr>
        <p:spPr>
          <a:xfrm>
            <a:off x="17455787" y="1368331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2A60925-1E64-86E7-776E-D8DEC7A40101}"/>
              </a:ext>
            </a:extLst>
          </p:cNvPr>
          <p:cNvSpPr/>
          <p:nvPr/>
        </p:nvSpPr>
        <p:spPr>
          <a:xfrm>
            <a:off x="3289681" y="-480873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A080819-74C5-A8FB-215E-EFC18AA399D0}"/>
              </a:ext>
            </a:extLst>
          </p:cNvPr>
          <p:cNvSpPr/>
          <p:nvPr/>
        </p:nvSpPr>
        <p:spPr>
          <a:xfrm>
            <a:off x="2212191" y="-480873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1682BAA-5696-39A9-FB39-A7254A14FFF3}"/>
              </a:ext>
            </a:extLst>
          </p:cNvPr>
          <p:cNvSpPr/>
          <p:nvPr/>
        </p:nvSpPr>
        <p:spPr>
          <a:xfrm>
            <a:off x="2180079" y="-480490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C914821-01E2-F5B0-C79E-9837020454AA}"/>
              </a:ext>
            </a:extLst>
          </p:cNvPr>
          <p:cNvSpPr/>
          <p:nvPr/>
        </p:nvSpPr>
        <p:spPr>
          <a:xfrm>
            <a:off x="4429315" y="-480873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218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2146-AEBA-A921-EBD9-4E2EC6D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39EF2C3-AF2E-8E82-E7BF-F9583E49CC3F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391FAE-6705-A92C-36B3-7BCFE8B747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FBAAA6-F32B-9240-560E-EAEAC2B7B4E3}"/>
              </a:ext>
            </a:extLst>
          </p:cNvPr>
          <p:cNvSpPr txBox="1"/>
          <p:nvPr/>
        </p:nvSpPr>
        <p:spPr>
          <a:xfrm>
            <a:off x="-7193873" y="2782669"/>
            <a:ext cx="5243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Rubik" panose="02000604000000020004" pitchFamily="2" charset="-79"/>
                <a:cs typeface="Rubik" panose="02000604000000020004" pitchFamily="2" charset="-79"/>
              </a:rPr>
              <a:t>CAPSTONE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F2152-75CD-7D4E-34FA-B186E4858DD4}"/>
              </a:ext>
            </a:extLst>
          </p:cNvPr>
          <p:cNvSpPr txBox="1"/>
          <p:nvPr/>
        </p:nvSpPr>
        <p:spPr>
          <a:xfrm>
            <a:off x="-5896243" y="3787836"/>
            <a:ext cx="45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269D01-5D56-51D4-EF89-32931436D757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02A20E-2548-6F63-CE36-FCD1E6F99D1C}"/>
              </a:ext>
            </a:extLst>
          </p:cNvPr>
          <p:cNvSpPr/>
          <p:nvPr/>
        </p:nvSpPr>
        <p:spPr>
          <a:xfrm>
            <a:off x="2212191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8115AA-3925-0B77-2034-0096792EA60B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033DAA-3E1C-B87C-C69C-246ACE4397CA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AC91FCB-0A5A-4926-55BF-209DF467F223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2D911B-6209-1B70-8E1E-A1F3AABDC977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6EDD38-2BF4-E616-6244-44704825A99A}"/>
              </a:ext>
            </a:extLst>
          </p:cNvPr>
          <p:cNvSpPr txBox="1"/>
          <p:nvPr/>
        </p:nvSpPr>
        <p:spPr>
          <a:xfrm>
            <a:off x="4771757" y="7927402"/>
            <a:ext cx="264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ubik" panose="02000604000000020004" pitchFamily="2" charset="-79"/>
                <a:cs typeface="Rubik" panose="02000604000000020004" pitchFamily="2" charset="-79"/>
              </a:rPr>
              <a:t>Josh Kenshi M. </a:t>
            </a:r>
            <a:r>
              <a:rPr lang="en-US" dirty="0" err="1">
                <a:latin typeface="Rubik" panose="02000604000000020004" pitchFamily="2" charset="-79"/>
                <a:cs typeface="Rubik" panose="02000604000000020004" pitchFamily="2" charset="-79"/>
              </a:rPr>
              <a:t>Dimpas</a:t>
            </a:r>
            <a:endParaRPr lang="en-US" dirty="0">
              <a:latin typeface="Rubik" panose="02000604000000020004" pitchFamily="2" charset="-79"/>
              <a:cs typeface="Rubik" panose="02000604000000020004" pitchFamily="2" charset="-79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8B72C-7854-B1CF-51A3-80182AE864BC}"/>
              </a:ext>
            </a:extLst>
          </p:cNvPr>
          <p:cNvSpPr txBox="1"/>
          <p:nvPr/>
        </p:nvSpPr>
        <p:spPr>
          <a:xfrm>
            <a:off x="1833022" y="2218172"/>
            <a:ext cx="54250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can create a reimbursement Draft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the required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Drafts can be saved and edited before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prevents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Graceful error handling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FDFF5F9-EAEC-3495-C6EF-00F9F2B5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828" y="2625919"/>
            <a:ext cx="7699079" cy="3374408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05DCB0D-4DCF-9E5D-B40E-BD5B7C54C497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05C6BDD-71A8-1C72-8E90-A998C960CF89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7FC39E3-253A-60C6-376B-D0BA36ADF0B0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15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27C14-B48D-5CCF-EA2C-DF66E4E3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13A3952-21B2-971C-A366-D00D0EFD13EE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A17C763-BB0F-99D4-CE0D-D32E921D9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DEFBD8F-E9BC-FDAC-415A-6BB0A756D51A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CA4829-6A5E-366F-330E-B21077059BC7}"/>
              </a:ext>
            </a:extLst>
          </p:cNvPr>
          <p:cNvSpPr/>
          <p:nvPr/>
        </p:nvSpPr>
        <p:spPr>
          <a:xfrm>
            <a:off x="2212191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8DE0B-C374-2860-BE0A-A00599A7AA5F}"/>
              </a:ext>
            </a:extLst>
          </p:cNvPr>
          <p:cNvSpPr txBox="1"/>
          <p:nvPr/>
        </p:nvSpPr>
        <p:spPr>
          <a:xfrm>
            <a:off x="14458229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Moving Expense Category Field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04BE7-7239-5B56-148B-7FC494B0DA7C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355E3A-0DE4-08BA-E679-D42D8E12AD92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51020D-EC3C-24BC-DA71-AC30273D954D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F006387-CF51-BFD4-A374-14E93483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609" y="2679840"/>
            <a:ext cx="2426836" cy="354504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DBB4F8F-C5EC-EC88-053C-543821F1FE7E}"/>
              </a:ext>
            </a:extLst>
          </p:cNvPr>
          <p:cNvSpPr txBox="1"/>
          <p:nvPr/>
        </p:nvSpPr>
        <p:spPr>
          <a:xfrm>
            <a:off x="16786860" y="3343978"/>
            <a:ext cx="4833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Migration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 references on backend and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752FBC-3712-3E4B-0A2A-585794EA012F}"/>
              </a:ext>
            </a:extLst>
          </p:cNvPr>
          <p:cNvSpPr txBox="1"/>
          <p:nvPr/>
        </p:nvSpPr>
        <p:spPr>
          <a:xfrm>
            <a:off x="16786860" y="288231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nter Medium" panose="02000503000000020004" pitchFamily="2" charset="0"/>
                <a:ea typeface="Inter Medium" panose="02000503000000020004" pitchFamily="2" charset="0"/>
                <a:cs typeface="Rubik" panose="02000604000000020004" pitchFamily="2" charset="-79"/>
              </a:rPr>
              <a:t>Initial Thoughts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EBC9F3-84DB-128A-3852-866892D344FF}"/>
              </a:ext>
            </a:extLst>
          </p:cNvPr>
          <p:cNvSpPr txBox="1"/>
          <p:nvPr/>
        </p:nvSpPr>
        <p:spPr>
          <a:xfrm>
            <a:off x="-8922417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64D6B0-40A9-4160-4F14-62EDA5340E99}"/>
              </a:ext>
            </a:extLst>
          </p:cNvPr>
          <p:cNvSpPr txBox="1"/>
          <p:nvPr/>
        </p:nvSpPr>
        <p:spPr>
          <a:xfrm>
            <a:off x="-8873078" y="2218172"/>
            <a:ext cx="54250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can create a reimbursement Draft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the required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Drafts can be saved and edited before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prevents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Graceful error handling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AF2206-9270-543C-4F7A-ECA76CBD05D0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FD6FEEE-644C-D05C-DB1A-23C26554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685" y="2625919"/>
            <a:ext cx="7699079" cy="3374408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E0A5636-ECC0-BE41-243D-7A62D7F9FF6A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43F8A9F-583A-AB8D-4B08-70C11A4643C9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1278A68-E3DB-75CD-C3FF-40EB5520FEA5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052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81C58-9EBD-3665-2DD1-BAF7418F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18A1328-3ED6-31F2-4F26-388B667709BB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995A025-17C9-4342-4D3B-055D57A26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60576F-4427-32E5-DA9E-43FCAB562313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CE9199-78AF-D6CD-47C0-FC727C21AA91}"/>
              </a:ext>
            </a:extLst>
          </p:cNvPr>
          <p:cNvSpPr/>
          <p:nvPr/>
        </p:nvSpPr>
        <p:spPr>
          <a:xfrm>
            <a:off x="2212191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037DD-7307-8072-BDA2-084D2A584485}"/>
              </a:ext>
            </a:extLst>
          </p:cNvPr>
          <p:cNvSpPr txBox="1"/>
          <p:nvPr/>
        </p:nvSpPr>
        <p:spPr>
          <a:xfrm>
            <a:off x="17836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Moving Expense Category Field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314C2-C492-704F-FE2D-7125D34414BA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131C4D-4713-48E6-E398-B657CBE23B01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05B936E-1415-1A0F-F6CC-BEC11EA6A7D1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0F85C3-45D3-C059-E539-E5C6EBE79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309" y="2679840"/>
            <a:ext cx="2426836" cy="354504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3783F60-4C2E-B4B8-375F-B9E97812405E}"/>
              </a:ext>
            </a:extLst>
          </p:cNvPr>
          <p:cNvSpPr txBox="1"/>
          <p:nvPr/>
        </p:nvSpPr>
        <p:spPr>
          <a:xfrm>
            <a:off x="6004560" y="3343978"/>
            <a:ext cx="4833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Migration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 references on backend and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DA0B1E-7ABF-D676-9F43-F86BEEF4D082}"/>
              </a:ext>
            </a:extLst>
          </p:cNvPr>
          <p:cNvSpPr txBox="1"/>
          <p:nvPr/>
        </p:nvSpPr>
        <p:spPr>
          <a:xfrm>
            <a:off x="6004560" y="288231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nter Medium" panose="02000503000000020004" pitchFamily="2" charset="0"/>
                <a:ea typeface="Inter Medium" panose="02000503000000020004" pitchFamily="2" charset="0"/>
                <a:cs typeface="Rubik" panose="02000604000000020004" pitchFamily="2" charset="-79"/>
              </a:rPr>
              <a:t>Initial Thoughts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FA4AB0-1F92-2D8D-2B89-F44E9BBB678E}"/>
              </a:ext>
            </a:extLst>
          </p:cNvPr>
          <p:cNvSpPr txBox="1"/>
          <p:nvPr/>
        </p:nvSpPr>
        <p:spPr>
          <a:xfrm>
            <a:off x="-8922417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C79192-AC07-ADA1-F720-C4D7962E18BA}"/>
              </a:ext>
            </a:extLst>
          </p:cNvPr>
          <p:cNvSpPr txBox="1"/>
          <p:nvPr/>
        </p:nvSpPr>
        <p:spPr>
          <a:xfrm>
            <a:off x="-8873078" y="2218172"/>
            <a:ext cx="54250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can create a reimbursement Draft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the required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Drafts can be saved and edited before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prevents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Graceful error handling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26312-F471-1B40-9D2F-E33B36808DA8}"/>
              </a:ext>
            </a:extLst>
          </p:cNvPr>
          <p:cNvSpPr txBox="1"/>
          <p:nvPr/>
        </p:nvSpPr>
        <p:spPr>
          <a:xfrm>
            <a:off x="-8558565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83FCDB-BFA3-9FF4-DD27-FED4D1686644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63007D-397B-AF1D-9057-2511B01AB946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D23049-13CC-F389-3B0E-4170F05406B3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8718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C53D-23E0-B752-83FD-55A65B65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BAD0BB9-D7CE-6C5D-1800-32539F196CD1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2E86F75-511F-CD2E-23E1-4A96D3EA3F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D626E8-327E-44BC-BC68-356034869BEA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552D02-BE93-F55B-C792-D9D1F7978858}"/>
              </a:ext>
            </a:extLst>
          </p:cNvPr>
          <p:cNvSpPr/>
          <p:nvPr/>
        </p:nvSpPr>
        <p:spPr>
          <a:xfrm>
            <a:off x="2212191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82E0CD-E878-8642-1AA5-B219DD461C8E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234400-ABCD-4E33-34DE-475A5B1C0655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7B64AE-8A8B-BA2A-4174-E8325D7F4B5E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BBCBBB-2A90-0992-17DF-166F4A8C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58951" y="2695080"/>
            <a:ext cx="2426836" cy="354504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1BAD895-3D77-CF05-4A53-6249C0DB1592}"/>
              </a:ext>
            </a:extLst>
          </p:cNvPr>
          <p:cNvSpPr txBox="1"/>
          <p:nvPr/>
        </p:nvSpPr>
        <p:spPr>
          <a:xfrm>
            <a:off x="-6162040" y="3343978"/>
            <a:ext cx="4833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Migration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 references on backend and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DDB06F-E557-1472-2B68-3C881D878BBD}"/>
              </a:ext>
            </a:extLst>
          </p:cNvPr>
          <p:cNvSpPr txBox="1"/>
          <p:nvPr/>
        </p:nvSpPr>
        <p:spPr>
          <a:xfrm>
            <a:off x="-6162040" y="288231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nter Medium" panose="02000503000000020004" pitchFamily="2" charset="0"/>
                <a:ea typeface="Inter Medium" panose="02000503000000020004" pitchFamily="2" charset="0"/>
                <a:cs typeface="Rubik" panose="02000604000000020004" pitchFamily="2" charset="-79"/>
              </a:rPr>
              <a:t>Initial Thoughts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41D2FB-CBBC-A346-7A74-9DA254063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383" y="2763102"/>
            <a:ext cx="7296150" cy="30084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C09C45-7E9C-A620-2288-B04107867199}"/>
              </a:ext>
            </a:extLst>
          </p:cNvPr>
          <p:cNvSpPr txBox="1"/>
          <p:nvPr/>
        </p:nvSpPr>
        <p:spPr>
          <a:xfrm>
            <a:off x="17836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Moving Expense Category Field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5DDE77-3012-2034-86DA-03CE7D5FA660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43BD7AC-AC1A-336A-6C92-C3480F721B39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2DE5B8E-3E5C-8CC7-0BBC-B5EB025A445A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847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5C7BD-993E-1BD8-E5BD-3D5BB2F9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1B98A12-8B43-F6B8-1D1E-3EC95D97F822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C5AFC6-B42A-030C-66D1-A1AA1D0F75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BD5B14-66D4-F993-F06F-6FA0DE856BED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EF9F5E-9C9C-6087-906C-82A6225DA11C}"/>
              </a:ext>
            </a:extLst>
          </p:cNvPr>
          <p:cNvSpPr/>
          <p:nvPr/>
        </p:nvSpPr>
        <p:spPr>
          <a:xfrm>
            <a:off x="2212191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A95F58-3F32-4DD8-C0B4-781C39D3D924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B2B434-02DF-308A-805E-3F6AF8BC0B3D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9594BF-A6D4-3012-1B7E-0F5A9C4B095F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7816ED-1E0C-EC62-BDC4-757EA0792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79217" y="2763102"/>
            <a:ext cx="7296150" cy="30084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6C2A26-6754-5D9C-1C19-C8AB0EAEFB5C}"/>
              </a:ext>
            </a:extLst>
          </p:cNvPr>
          <p:cNvSpPr txBox="1"/>
          <p:nvPr/>
        </p:nvSpPr>
        <p:spPr>
          <a:xfrm>
            <a:off x="-9493918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Moving Expense Category Field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8A2A1-880B-4F61-53DA-395CF3AB03E9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Graceful Error Handling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819E2C-6238-8B30-EFCA-BB572D95C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196" y="3229911"/>
            <a:ext cx="3619500" cy="23605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75B50D-77E7-688D-6D0C-FF2B5022A891}"/>
              </a:ext>
            </a:extLst>
          </p:cNvPr>
          <p:cNvSpPr txBox="1"/>
          <p:nvPr/>
        </p:nvSpPr>
        <p:spPr>
          <a:xfrm>
            <a:off x="1833022" y="2224830"/>
            <a:ext cx="868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or network failures show a user-friendly error with a retry option; no silent failures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FAA155-58D2-B947-2222-4FDB37F63E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08" t="10034" r="5036" b="10791"/>
          <a:stretch>
            <a:fillRect/>
          </a:stretch>
        </p:blipFill>
        <p:spPr>
          <a:xfrm>
            <a:off x="5982287" y="3229911"/>
            <a:ext cx="5752513" cy="2466339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F320B0-5A55-98A3-1FAD-D3588513FFEF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A443DBB-E7E1-A189-E813-3B3E7C8A1EF8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7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1AAB0F8-6316-0466-889B-5E7E5D7F2BF8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60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EE78C-18D8-4A7C-F5EB-70B9F360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8FB8B8-32DD-30AB-32B0-E551B95AA3B3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3ECFEA-DD82-C0A5-3779-CD42C453E6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AA360D-AA7E-A6C4-7DB5-FC5CC7CE58EC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005719-6096-F32C-2658-1A279AC4D8E2}"/>
              </a:ext>
            </a:extLst>
          </p:cNvPr>
          <p:cNvSpPr/>
          <p:nvPr/>
        </p:nvSpPr>
        <p:spPr>
          <a:xfrm>
            <a:off x="2212191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37A494-205D-4E83-E129-4F13398BBFA6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94794B-9DC1-EF75-B6FE-E57D51946E14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5587A4-7905-4C33-CFD2-A1F75BF719D2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00B96-4964-7EBB-438F-69F8C74F97D9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Graceful Error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F8E51-2E5A-4CFA-8B83-45DE57CF72A1}"/>
              </a:ext>
            </a:extLst>
          </p:cNvPr>
          <p:cNvSpPr txBox="1"/>
          <p:nvPr/>
        </p:nvSpPr>
        <p:spPr>
          <a:xfrm>
            <a:off x="1833022" y="2224830"/>
            <a:ext cx="868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or network failures show a user-friendly error with a retry option; no silent failures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61B9B-4D85-8F8B-F96D-44BA782A7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00" y="3077579"/>
            <a:ext cx="5778500" cy="292274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B022C3-7B6C-64D6-010B-0C987E69DEB6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0BBD4E-1881-8BC2-C6C1-33D15CDF431F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FBD49C5-9DC7-9F4F-6BA9-584BEDD0C843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31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35D5F-0CC6-3F2D-CAE7-8DF48133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7AD1450-4F2D-8574-B477-2E827C152B0C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E74DEC6-1FF1-1C50-965C-6CDDDD078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E2EC83-62AE-9F92-2279-1846AABBAF35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EFC568-B1CA-D93E-6D4D-16BBEF69A38E}"/>
              </a:ext>
            </a:extLst>
          </p:cNvPr>
          <p:cNvSpPr/>
          <p:nvPr/>
        </p:nvSpPr>
        <p:spPr>
          <a:xfrm>
            <a:off x="2212191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04B734-0441-316C-4A8F-948A5601B43B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15" name="Separator">
            <a:extLst>
              <a:ext uri="{FF2B5EF4-FFF2-40B4-BE49-F238E27FC236}">
                <a16:creationId xmlns:a16="http://schemas.microsoft.com/office/drawing/2014/main" id="{ED75A4A4-4FCC-68B5-1972-A0AB3B711A87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ploy To STG 2">
            <a:extLst>
              <a:ext uri="{FF2B5EF4-FFF2-40B4-BE49-F238E27FC236}">
                <a16:creationId xmlns:a16="http://schemas.microsoft.com/office/drawing/2014/main" id="{9A9010F0-A221-F2CB-6016-81C8DF05E88A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0C5D9-0E90-5947-3013-B1C064652DC2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Graceful Error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B6C09-E676-4FF5-D044-6A2544A44B33}"/>
              </a:ext>
            </a:extLst>
          </p:cNvPr>
          <p:cNvSpPr txBox="1"/>
          <p:nvPr/>
        </p:nvSpPr>
        <p:spPr>
          <a:xfrm>
            <a:off x="1833022" y="2224830"/>
            <a:ext cx="868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or network failures show a user-friendly error with a retry option; no silent failures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4659F-BDF0-BFC5-22D3-DE4A95C4C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8800" y="3230863"/>
            <a:ext cx="5778500" cy="2616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E0C5B2-A8D3-1BA9-A893-087C9439364D}"/>
              </a:ext>
            </a:extLst>
          </p:cNvPr>
          <p:cNvSpPr txBox="1"/>
          <p:nvPr/>
        </p:nvSpPr>
        <p:spPr>
          <a:xfrm>
            <a:off x="12926919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Link Travel Request</a:t>
            </a:r>
          </a:p>
        </p:txBody>
      </p:sp>
      <p:sp>
        <p:nvSpPr>
          <p:cNvPr id="9" name="Deploy To STG">
            <a:extLst>
              <a:ext uri="{FF2B5EF4-FFF2-40B4-BE49-F238E27FC236}">
                <a16:creationId xmlns:a16="http://schemas.microsoft.com/office/drawing/2014/main" id="{6B6A93FC-A687-31AD-73FC-9DB068CB1CB8}"/>
              </a:ext>
            </a:extLst>
          </p:cNvPr>
          <p:cNvSpPr/>
          <p:nvPr/>
        </p:nvSpPr>
        <p:spPr>
          <a:xfrm>
            <a:off x="16117816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cxnSp>
        <p:nvCxnSpPr>
          <p:cNvPr id="13" name="Separator 2">
            <a:extLst>
              <a:ext uri="{FF2B5EF4-FFF2-40B4-BE49-F238E27FC236}">
                <a16:creationId xmlns:a16="http://schemas.microsoft.com/office/drawing/2014/main" id="{162B6568-EF19-2069-EEBF-8141D50CF2AB}"/>
              </a:ext>
            </a:extLst>
          </p:cNvPr>
          <p:cNvCxnSpPr/>
          <p:nvPr/>
        </p:nvCxnSpPr>
        <p:spPr>
          <a:xfrm>
            <a:off x="14492620" y="2139554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1BBF134-DF81-168B-25B1-BB8106DAFA71}"/>
              </a:ext>
            </a:extLst>
          </p:cNvPr>
          <p:cNvSpPr txBox="1"/>
          <p:nvPr/>
        </p:nvSpPr>
        <p:spPr>
          <a:xfrm>
            <a:off x="15371222" y="1493526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36F0D8-FD17-8C66-B9A3-4F7635E3BB2F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F0D613-F265-692F-EC3B-6EE7BD3AEE77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DD23494-6AB6-C994-ED94-1F594142240B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97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EA902-807D-D951-6F10-2CBB06DE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52ABF5-ADCF-1DD5-FC20-F5FDE361BAC5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B3B80EA-75B8-F906-AD31-4F7C50D54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AFF3FD-9035-1E24-CADC-872C471177B2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004C41-8A2F-14C1-29BB-9711E49E768A}"/>
              </a:ext>
            </a:extLst>
          </p:cNvPr>
          <p:cNvSpPr/>
          <p:nvPr/>
        </p:nvSpPr>
        <p:spPr>
          <a:xfrm>
            <a:off x="330949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9BEED22-F4C3-C9F3-BCFD-A92630C7470A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4C6EC35-D7A5-BD01-49DD-94662C174989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2D57A-0CE4-A268-5061-0799FFDBB4AA}"/>
              </a:ext>
            </a:extLst>
          </p:cNvPr>
          <p:cNvSpPr txBox="1"/>
          <p:nvPr/>
        </p:nvSpPr>
        <p:spPr>
          <a:xfrm>
            <a:off x="-10436892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90C365-C62D-BD04-1529-FF51AF177C03}"/>
              </a:ext>
            </a:extLst>
          </p:cNvPr>
          <p:cNvCxnSpPr/>
          <p:nvPr/>
        </p:nvCxnSpPr>
        <p:spPr>
          <a:xfrm>
            <a:off x="-10387553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ploy To STG 2">
            <a:extLst>
              <a:ext uri="{FF2B5EF4-FFF2-40B4-BE49-F238E27FC236}">
                <a16:creationId xmlns:a16="http://schemas.microsoft.com/office/drawing/2014/main" id="{D2C79878-A937-283B-6866-D655F042B8D4}"/>
              </a:ext>
            </a:extLst>
          </p:cNvPr>
          <p:cNvSpPr/>
          <p:nvPr/>
        </p:nvSpPr>
        <p:spPr>
          <a:xfrm>
            <a:off x="-6700730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FEB75-3FCD-1D74-07F9-F4927328F1BA}"/>
              </a:ext>
            </a:extLst>
          </p:cNvPr>
          <p:cNvSpPr txBox="1"/>
          <p:nvPr/>
        </p:nvSpPr>
        <p:spPr>
          <a:xfrm>
            <a:off x="-10436892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Graceful Error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7E35EB-2282-FEBA-3BB9-340AA5DCA1E5}"/>
              </a:ext>
            </a:extLst>
          </p:cNvPr>
          <p:cNvSpPr txBox="1"/>
          <p:nvPr/>
        </p:nvSpPr>
        <p:spPr>
          <a:xfrm>
            <a:off x="-10387553" y="2224830"/>
            <a:ext cx="8686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or network failures show a user-friendly error with a retry option; no silent failures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91B2A-3341-BCD8-F4D7-70516C47B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121775" y="3230863"/>
            <a:ext cx="5778500" cy="26161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59769F-8BFC-3BEF-2387-E5886729991B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Link Travel Request</a:t>
            </a:r>
          </a:p>
        </p:txBody>
      </p:sp>
      <p:sp>
        <p:nvSpPr>
          <p:cNvPr id="24" name="Deploy To STG">
            <a:extLst>
              <a:ext uri="{FF2B5EF4-FFF2-40B4-BE49-F238E27FC236}">
                <a16:creationId xmlns:a16="http://schemas.microsoft.com/office/drawing/2014/main" id="{067FDE7E-A17C-1E33-9398-DC734B1F1FD3}"/>
              </a:ext>
            </a:extLst>
          </p:cNvPr>
          <p:cNvSpPr/>
          <p:nvPr/>
        </p:nvSpPr>
        <p:spPr>
          <a:xfrm>
            <a:off x="4974580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cxnSp>
        <p:nvCxnSpPr>
          <p:cNvPr id="29" name="Separator 2">
            <a:extLst>
              <a:ext uri="{FF2B5EF4-FFF2-40B4-BE49-F238E27FC236}">
                <a16:creationId xmlns:a16="http://schemas.microsoft.com/office/drawing/2014/main" id="{16E17AB7-83AF-BC2C-38B0-E47F95297BDA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7BEB240-20E6-83EE-31C7-BD4FE2747115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375B25-9C69-E596-DB5B-EFECAE40A9FE}"/>
              </a:ext>
            </a:extLst>
          </p:cNvPr>
          <p:cNvSpPr txBox="1"/>
          <p:nvPr/>
        </p:nvSpPr>
        <p:spPr>
          <a:xfrm>
            <a:off x="1833022" y="2218172"/>
            <a:ext cx="9103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should be populated when creating a Reimbursement from a completed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immutable after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module receives liquidation signal upon submission.</a:t>
            </a:r>
            <a:br>
              <a:rPr lang="en-US" dirty="0"/>
            </a:br>
            <a:r>
              <a:rPr lang="en-US" dirty="0"/>
              <a:t>Travel status changes to </a:t>
            </a:r>
            <a:r>
              <a:rPr lang="en-US" b="1" dirty="0"/>
              <a:t>Pending Reimbursement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DE41BE3-7977-D51B-D4BD-254DE7EF9333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212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4649-3F43-D5AF-3394-7B4F08B0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1F9CF15-283E-3BDA-5011-4621A9DAA90D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54BC97-40F5-A394-D70B-D633D7C94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68EBD7-D05D-DB34-B4DA-4A7E8D33D6BC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562276-FB41-75D0-EDE8-D3DE183BCCB3}"/>
              </a:ext>
            </a:extLst>
          </p:cNvPr>
          <p:cNvSpPr/>
          <p:nvPr/>
        </p:nvSpPr>
        <p:spPr>
          <a:xfrm>
            <a:off x="330949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FF05F24-B0F8-27CE-0919-967258F35329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BD0B2CB-3152-F8CD-B08F-F273FFB5EB05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3B5A3-895E-E232-211B-C90929ED4D31}"/>
              </a:ext>
            </a:extLst>
          </p:cNvPr>
          <p:cNvSpPr txBox="1"/>
          <p:nvPr/>
        </p:nvSpPr>
        <p:spPr>
          <a:xfrm>
            <a:off x="-10436892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52BCF-A6AB-7CFB-9483-80E48568C55E}"/>
              </a:ext>
            </a:extLst>
          </p:cNvPr>
          <p:cNvSpPr txBox="1"/>
          <p:nvPr/>
        </p:nvSpPr>
        <p:spPr>
          <a:xfrm>
            <a:off x="-10436892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Graceful Error Handling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1D2FA-5203-A885-98DE-0F475CEBEFFA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Link Travel Request</a:t>
            </a:r>
          </a:p>
        </p:txBody>
      </p:sp>
      <p:sp>
        <p:nvSpPr>
          <p:cNvPr id="24" name="Deploy To STG">
            <a:extLst>
              <a:ext uri="{FF2B5EF4-FFF2-40B4-BE49-F238E27FC236}">
                <a16:creationId xmlns:a16="http://schemas.microsoft.com/office/drawing/2014/main" id="{C51554C6-2769-AB19-993F-65B77DE3669E}"/>
              </a:ext>
            </a:extLst>
          </p:cNvPr>
          <p:cNvSpPr/>
          <p:nvPr/>
        </p:nvSpPr>
        <p:spPr>
          <a:xfrm>
            <a:off x="4974580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cxnSp>
        <p:nvCxnSpPr>
          <p:cNvPr id="29" name="Separator 2">
            <a:extLst>
              <a:ext uri="{FF2B5EF4-FFF2-40B4-BE49-F238E27FC236}">
                <a16:creationId xmlns:a16="http://schemas.microsoft.com/office/drawing/2014/main" id="{A4F00759-E5A7-537E-CD8A-3CA5C929B1F3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9D269E8-1682-7AFE-8681-AB272FF75D07}"/>
              </a:ext>
            </a:extLst>
          </p:cNvPr>
          <p:cNvSpPr txBox="1"/>
          <p:nvPr/>
        </p:nvSpPr>
        <p:spPr>
          <a:xfrm>
            <a:off x="-6712617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531544-5610-639A-DE94-53086C0C96D5}"/>
              </a:ext>
            </a:extLst>
          </p:cNvPr>
          <p:cNvSpPr txBox="1"/>
          <p:nvPr/>
        </p:nvSpPr>
        <p:spPr>
          <a:xfrm>
            <a:off x="-10580231" y="2218172"/>
            <a:ext cx="9103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should be populated when creating a Reimbursement from a completed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immutable after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module receives liquidation signal upon submission.</a:t>
            </a:r>
            <a:br>
              <a:rPr lang="en-US" dirty="0"/>
            </a:br>
            <a:r>
              <a:rPr lang="en-US" dirty="0"/>
              <a:t>Travel status changes to </a:t>
            </a:r>
            <a:r>
              <a:rPr lang="en-US" b="1" dirty="0"/>
              <a:t>Pending Reimbursement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6B2C1-0836-E09E-4C4A-2FF9788563A0}"/>
              </a:ext>
            </a:extLst>
          </p:cNvPr>
          <p:cNvSpPr txBox="1"/>
          <p:nvPr/>
        </p:nvSpPr>
        <p:spPr>
          <a:xfrm>
            <a:off x="17836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All Travelers can create a Request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985065-FBFD-2A12-10E1-AA9062FD2709}"/>
              </a:ext>
            </a:extLst>
          </p:cNvPr>
          <p:cNvSpPr/>
          <p:nvPr/>
        </p:nvSpPr>
        <p:spPr>
          <a:xfrm>
            <a:off x="4098398" y="2441494"/>
            <a:ext cx="2124075" cy="990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TravelRequest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C446FB-54C6-CC63-DA67-389C4599274D}"/>
              </a:ext>
            </a:extLst>
          </p:cNvPr>
          <p:cNvSpPr/>
          <p:nvPr/>
        </p:nvSpPr>
        <p:spPr>
          <a:xfrm>
            <a:off x="5632012" y="4079759"/>
            <a:ext cx="2124075" cy="990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Traveler1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3759E0-64A0-0140-5E13-B2B6EEBD826D}"/>
              </a:ext>
            </a:extLst>
          </p:cNvPr>
          <p:cNvSpPr/>
          <p:nvPr/>
        </p:nvSpPr>
        <p:spPr>
          <a:xfrm>
            <a:off x="2725344" y="4079759"/>
            <a:ext cx="2124075" cy="990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Traveler2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8F39131-F3B0-5DA8-166B-3EF9EB9E7DE8}"/>
              </a:ext>
            </a:extLst>
          </p:cNvPr>
          <p:cNvCxnSpPr>
            <a:stCxn id="13" idx="0"/>
            <a:endCxn id="7" idx="2"/>
          </p:cNvCxnSpPr>
          <p:nvPr/>
        </p:nvCxnSpPr>
        <p:spPr>
          <a:xfrm rot="5400000" flipH="1" flipV="1">
            <a:off x="4150077" y="3069400"/>
            <a:ext cx="647665" cy="137305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728A1C6-F6F9-B7C4-1AD0-AD5F783425A5}"/>
              </a:ext>
            </a:extLst>
          </p:cNvPr>
          <p:cNvCxnSpPr>
            <a:stCxn id="10" idx="0"/>
            <a:endCxn id="7" idx="2"/>
          </p:cNvCxnSpPr>
          <p:nvPr/>
        </p:nvCxnSpPr>
        <p:spPr>
          <a:xfrm rot="16200000" flipV="1">
            <a:off x="5603411" y="2989120"/>
            <a:ext cx="647665" cy="153361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93B65D-AE90-C92D-4EA2-5715E121260B}"/>
              </a:ext>
            </a:extLst>
          </p:cNvPr>
          <p:cNvSpPr/>
          <p:nvPr/>
        </p:nvSpPr>
        <p:spPr>
          <a:xfrm>
            <a:off x="8420036" y="4079759"/>
            <a:ext cx="2124075" cy="9906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Reimbursement1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1975C63-A115-2032-780D-66CE42918F81}"/>
              </a:ext>
            </a:extLst>
          </p:cNvPr>
          <p:cNvCxnSpPr>
            <a:stCxn id="10" idx="3"/>
            <a:endCxn id="32" idx="1"/>
          </p:cNvCxnSpPr>
          <p:nvPr/>
        </p:nvCxnSpPr>
        <p:spPr>
          <a:xfrm>
            <a:off x="7756087" y="4575059"/>
            <a:ext cx="663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4E9F5717-82FF-26E3-BD32-C55D5B89C00A}"/>
              </a:ext>
            </a:extLst>
          </p:cNvPr>
          <p:cNvCxnSpPr>
            <a:stCxn id="32" idx="0"/>
            <a:endCxn id="7" idx="3"/>
          </p:cNvCxnSpPr>
          <p:nvPr/>
        </p:nvCxnSpPr>
        <p:spPr>
          <a:xfrm rot="16200000" flipV="1">
            <a:off x="7280792" y="1878476"/>
            <a:ext cx="1142965" cy="3259601"/>
          </a:xfrm>
          <a:prstGeom prst="curvedConnector2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3D7C63B-4411-57EA-2B94-2D8E43253845}"/>
              </a:ext>
            </a:extLst>
          </p:cNvPr>
          <p:cNvSpPr/>
          <p:nvPr/>
        </p:nvSpPr>
        <p:spPr>
          <a:xfrm>
            <a:off x="8449489" y="5294477"/>
            <a:ext cx="2124075" cy="9906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Reimbursement2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9220F2FD-4FEC-367B-0395-63179DB5994F}"/>
              </a:ext>
            </a:extLst>
          </p:cNvPr>
          <p:cNvCxnSpPr>
            <a:stCxn id="13" idx="2"/>
            <a:endCxn id="43" idx="1"/>
          </p:cNvCxnSpPr>
          <p:nvPr/>
        </p:nvCxnSpPr>
        <p:spPr>
          <a:xfrm rot="16200000" flipH="1">
            <a:off x="5758726" y="3099014"/>
            <a:ext cx="719418" cy="466210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DECF3D5-EE59-3305-F6A5-4520A04A4C5B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438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32" grpId="0" animBg="1"/>
      <p:bldP spid="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FD91-B1A9-CB3B-CC15-8A5E22B7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19AD678-43DB-C8E8-E06B-6A33618C4112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68EDA2A-B5E6-4195-91FA-CEC1279CF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8EE7250-5BDD-024E-C1F5-BA8510EA4E10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ADDAF2-EEDC-EAA9-A3EF-17272F6227C9}"/>
              </a:ext>
            </a:extLst>
          </p:cNvPr>
          <p:cNvSpPr/>
          <p:nvPr/>
        </p:nvSpPr>
        <p:spPr>
          <a:xfrm>
            <a:off x="330949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64B082-C143-CFDC-5BB1-EE108B2A518A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4B4C04D-3532-80AC-FFFF-3BADEA884B8E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D2A5D7B-77B9-F89E-9A53-070ADAD90E6A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0FAA87-FF09-5083-5D49-6D0C9A5F35EA}"/>
              </a:ext>
            </a:extLst>
          </p:cNvPr>
          <p:cNvSpPr txBox="1"/>
          <p:nvPr/>
        </p:nvSpPr>
        <p:spPr>
          <a:xfrm>
            <a:off x="-10436892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80D39-1A7E-DB7F-382C-48FC63050416}"/>
              </a:ext>
            </a:extLst>
          </p:cNvPr>
          <p:cNvSpPr txBox="1"/>
          <p:nvPr/>
        </p:nvSpPr>
        <p:spPr>
          <a:xfrm>
            <a:off x="-10436892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Graceful Error Handling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833825-E093-4DD6-01AE-EF7D4BB1DEBA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Link Travel Request</a:t>
            </a:r>
          </a:p>
        </p:txBody>
      </p:sp>
      <p:sp>
        <p:nvSpPr>
          <p:cNvPr id="24" name="Deploy To STG">
            <a:extLst>
              <a:ext uri="{FF2B5EF4-FFF2-40B4-BE49-F238E27FC236}">
                <a16:creationId xmlns:a16="http://schemas.microsoft.com/office/drawing/2014/main" id="{1DB485AE-388A-4F27-553A-8DBC39363F23}"/>
              </a:ext>
            </a:extLst>
          </p:cNvPr>
          <p:cNvSpPr/>
          <p:nvPr/>
        </p:nvSpPr>
        <p:spPr>
          <a:xfrm>
            <a:off x="4974580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cxnSp>
        <p:nvCxnSpPr>
          <p:cNvPr id="29" name="Separator 2">
            <a:extLst>
              <a:ext uri="{FF2B5EF4-FFF2-40B4-BE49-F238E27FC236}">
                <a16:creationId xmlns:a16="http://schemas.microsoft.com/office/drawing/2014/main" id="{CB682305-4B76-8C26-550C-13364B3D1347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4FE84DA-1524-8629-454D-BD41BD76B58E}"/>
              </a:ext>
            </a:extLst>
          </p:cNvPr>
          <p:cNvSpPr txBox="1"/>
          <p:nvPr/>
        </p:nvSpPr>
        <p:spPr>
          <a:xfrm>
            <a:off x="-6712617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3CA329-CD53-68CA-2DF2-B98CEC5653D4}"/>
              </a:ext>
            </a:extLst>
          </p:cNvPr>
          <p:cNvSpPr txBox="1"/>
          <p:nvPr/>
        </p:nvSpPr>
        <p:spPr>
          <a:xfrm>
            <a:off x="-10580231" y="2218172"/>
            <a:ext cx="9103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should be populated when creating a Reimbursement from a completed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immutable after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module receives liquidation signal upon submission.</a:t>
            </a:r>
            <a:br>
              <a:rPr lang="en-US" dirty="0"/>
            </a:br>
            <a:r>
              <a:rPr lang="en-US" dirty="0"/>
              <a:t>Travel status changes to </a:t>
            </a:r>
            <a:r>
              <a:rPr lang="en-US" b="1" dirty="0"/>
              <a:t>Pending Reimbursement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D564F-20EB-7F9B-0D0C-B18998588563}"/>
              </a:ext>
            </a:extLst>
          </p:cNvPr>
          <p:cNvSpPr txBox="1"/>
          <p:nvPr/>
        </p:nvSpPr>
        <p:spPr>
          <a:xfrm>
            <a:off x="17836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All Travelers can create a Request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FD2832-E200-51D9-6503-7686591EF0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031" y="3368331"/>
            <a:ext cx="9740854" cy="2041577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66E074-0892-B89F-0541-DC26E5B01196}"/>
              </a:ext>
            </a:extLst>
          </p:cNvPr>
          <p:cNvSpPr/>
          <p:nvPr/>
        </p:nvSpPr>
        <p:spPr>
          <a:xfrm>
            <a:off x="153877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18E2D-F071-B69E-6D51-D30C18EEBFC1}"/>
              </a:ext>
            </a:extLst>
          </p:cNvPr>
          <p:cNvSpPr txBox="1"/>
          <p:nvPr/>
        </p:nvSpPr>
        <p:spPr>
          <a:xfrm>
            <a:off x="12704568" y="873979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23" name="Separator 100">
            <a:extLst>
              <a:ext uri="{FF2B5EF4-FFF2-40B4-BE49-F238E27FC236}">
                <a16:creationId xmlns:a16="http://schemas.microsoft.com/office/drawing/2014/main" id="{8BD7B835-6F64-59B6-BC94-3505CA7C3141}"/>
              </a:ext>
            </a:extLst>
          </p:cNvPr>
          <p:cNvCxnSpPr/>
          <p:nvPr/>
        </p:nvCxnSpPr>
        <p:spPr>
          <a:xfrm>
            <a:off x="15109090" y="2157649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8AAC607-0161-20FD-212D-73BB4D9EEF13}"/>
              </a:ext>
            </a:extLst>
          </p:cNvPr>
          <p:cNvSpPr txBox="1"/>
          <p:nvPr/>
        </p:nvSpPr>
        <p:spPr>
          <a:xfrm>
            <a:off x="19611357" y="1541008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1126744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80FF-5181-1E2D-B7FC-217A8993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5B2A1B-5387-97B0-CAF8-BD1BB6B0A09B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0D87B76-1588-D46A-69A6-91E162A31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098A8FC-DC62-FBE3-4D4C-7C3BA73995A4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D4D3CA-9368-313F-69DB-640E54F7C0B6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B1307A-96F5-8418-2F0B-73C74F875EBC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764606-D958-F83A-845D-24D5233CDA62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4B9B181-A9F4-B873-4CAC-7DF2FB25BE35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07793-2D49-C7A0-D491-5CE469355B7B}"/>
              </a:ext>
            </a:extLst>
          </p:cNvPr>
          <p:cNvSpPr txBox="1"/>
          <p:nvPr/>
        </p:nvSpPr>
        <p:spPr>
          <a:xfrm>
            <a:off x="-10436892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Create Reimbursement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93C4B-17B9-52C4-310B-3CFE030F1E15}"/>
              </a:ext>
            </a:extLst>
          </p:cNvPr>
          <p:cNvSpPr txBox="1"/>
          <p:nvPr/>
        </p:nvSpPr>
        <p:spPr>
          <a:xfrm>
            <a:off x="-10436892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Graceful Error Handling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B48703-7E4E-B154-946A-FB7EFCCC798E}"/>
              </a:ext>
            </a:extLst>
          </p:cNvPr>
          <p:cNvSpPr txBox="1"/>
          <p:nvPr/>
        </p:nvSpPr>
        <p:spPr>
          <a:xfrm>
            <a:off x="-11235321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Link Travel Request</a:t>
            </a:r>
          </a:p>
        </p:txBody>
      </p:sp>
      <p:sp>
        <p:nvSpPr>
          <p:cNvPr id="24" name="Deploy To STG">
            <a:extLst>
              <a:ext uri="{FF2B5EF4-FFF2-40B4-BE49-F238E27FC236}">
                <a16:creationId xmlns:a16="http://schemas.microsoft.com/office/drawing/2014/main" id="{06539CFB-17F0-1AEC-CA62-D4761ED4BF56}"/>
              </a:ext>
            </a:extLst>
          </p:cNvPr>
          <p:cNvSpPr/>
          <p:nvPr/>
        </p:nvSpPr>
        <p:spPr>
          <a:xfrm>
            <a:off x="-8044424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cxnSp>
        <p:nvCxnSpPr>
          <p:cNvPr id="29" name="Separator 2">
            <a:extLst>
              <a:ext uri="{FF2B5EF4-FFF2-40B4-BE49-F238E27FC236}">
                <a16:creationId xmlns:a16="http://schemas.microsoft.com/office/drawing/2014/main" id="{2A3B1F03-0BAB-B368-55B8-03AB9EC45877}"/>
              </a:ext>
            </a:extLst>
          </p:cNvPr>
          <p:cNvCxnSpPr/>
          <p:nvPr/>
        </p:nvCxnSpPr>
        <p:spPr>
          <a:xfrm>
            <a:off x="-1118598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D9FFE5-A24F-E7CD-1367-508F09895581}"/>
              </a:ext>
            </a:extLst>
          </p:cNvPr>
          <p:cNvSpPr txBox="1"/>
          <p:nvPr/>
        </p:nvSpPr>
        <p:spPr>
          <a:xfrm>
            <a:off x="-6712617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A718FE-AB92-A70F-AC1D-6BE8983863EE}"/>
              </a:ext>
            </a:extLst>
          </p:cNvPr>
          <p:cNvSpPr txBox="1"/>
          <p:nvPr/>
        </p:nvSpPr>
        <p:spPr>
          <a:xfrm>
            <a:off x="-10580231" y="2218172"/>
            <a:ext cx="9103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should be populated when creating a Reimbursement from a completed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immutable after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module receives liquidation signal upon submission.</a:t>
            </a:r>
            <a:br>
              <a:rPr lang="en-US" dirty="0"/>
            </a:br>
            <a:r>
              <a:rPr lang="en-US" dirty="0"/>
              <a:t>Travel status changes to </a:t>
            </a:r>
            <a:r>
              <a:rPr lang="en-US" b="1" dirty="0"/>
              <a:t>Pending Reimbursement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5C8E4-66D4-76F2-1D6F-F66E18648412}"/>
              </a:ext>
            </a:extLst>
          </p:cNvPr>
          <p:cNvSpPr txBox="1"/>
          <p:nvPr/>
        </p:nvSpPr>
        <p:spPr>
          <a:xfrm>
            <a:off x="-1123532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All Travelers can create a Request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452317-60DE-9316-C49C-3ABECCE40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342973" y="3368331"/>
            <a:ext cx="9740854" cy="20415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57B92B-1809-B666-9E27-576F8E93C2E6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00A1272F-89DD-8E77-84B4-7CDC856F7CDF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1A249-B29C-3CA1-E513-9DE82B40E7BD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6D4B8-D03B-1054-33F2-35C1522C4B5C}"/>
              </a:ext>
            </a:extLst>
          </p:cNvPr>
          <p:cNvSpPr txBox="1"/>
          <p:nvPr/>
        </p:nvSpPr>
        <p:spPr>
          <a:xfrm>
            <a:off x="1833022" y="2218172"/>
            <a:ext cx="81139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view for their own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Sorting by id, paid progress, amount, status, date submitted and last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by ID, Reference No, or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Indicator for Deadline Flags (expiring and expired)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Invoice Preview Dialog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 operations (Delete and View)</a:t>
            </a:r>
          </a:p>
        </p:txBody>
      </p: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E262CB42-93B5-B29F-13F9-E42EE2567A1B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A75CDA-C9A3-CF01-9771-BC4B2FDFC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56567" y="2170468"/>
            <a:ext cx="10492131" cy="393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95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3BD0-877C-92D2-04A9-69C36EFE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6986A89-A68C-943A-4459-7187668AED29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A2BC6E2-745E-1617-B933-4EB81A4B6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7823E78-965A-9168-F491-2EBC12680B93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58B938-419E-E3BE-8710-E2B004EE0571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E01AFA8-F32B-BAA0-2ED3-B2836A6892FC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CB933BB-5E87-C4F0-2E72-8EA5EDA76A21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4F631C-7157-F120-6F1B-4F6B6A00297E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C0CB1E-5F62-46F4-A2A2-F99C6E968388}"/>
              </a:ext>
            </a:extLst>
          </p:cNvPr>
          <p:cNvSpPr txBox="1"/>
          <p:nvPr/>
        </p:nvSpPr>
        <p:spPr>
          <a:xfrm>
            <a:off x="-10580231" y="2218172"/>
            <a:ext cx="9103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should be populated when creating a Reimbursement from a completed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immutable after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module receives liquidation signal upon submission.</a:t>
            </a:r>
            <a:br>
              <a:rPr lang="en-US" dirty="0"/>
            </a:br>
            <a:r>
              <a:rPr lang="en-US" dirty="0"/>
              <a:t>Travel status changes to </a:t>
            </a:r>
            <a:r>
              <a:rPr lang="en-US" b="1" dirty="0"/>
              <a:t>Pending Reimbursement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44AA8-8562-C751-F414-77BDE81849F1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525CFC45-8C1D-C8D8-CDB4-42F2DE790C63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6F6678-9465-D838-17DA-91CCC425BE5E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7B771-8DE6-0F26-B28F-BA840A2FFAE9}"/>
              </a:ext>
            </a:extLst>
          </p:cNvPr>
          <p:cNvSpPr txBox="1"/>
          <p:nvPr/>
        </p:nvSpPr>
        <p:spPr>
          <a:xfrm>
            <a:off x="-11654378" y="2218172"/>
            <a:ext cx="81139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view for their own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Sorting by id, paid progress, amount, status, date submitted and last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by ID, Reference No, or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Indicator for Deadline Flags (expiring and expired)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Invoice Preview Dialog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 operations (Delete and View)</a:t>
            </a:r>
          </a:p>
        </p:txBody>
      </p: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241F8F41-A887-F289-B7E5-EA5514F3BD64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F3DC89-3459-7C7A-D5E3-FF11266631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8947" y="2170468"/>
            <a:ext cx="10492131" cy="39381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E348D8-7ED7-1992-02CD-2A981319D935}"/>
              </a:ext>
            </a:extLst>
          </p:cNvPr>
          <p:cNvSpPr txBox="1"/>
          <p:nvPr/>
        </p:nvSpPr>
        <p:spPr>
          <a:xfrm>
            <a:off x="154234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Search Target Filter</a:t>
            </a:r>
          </a:p>
        </p:txBody>
      </p:sp>
    </p:spTree>
    <p:extLst>
      <p:ext uri="{BB962C8B-B14F-4D97-AF65-F5344CB8AC3E}">
        <p14:creationId xmlns:p14="http://schemas.microsoft.com/office/powerpoint/2010/main" val="4189017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BBC3-F15B-AE21-417F-240D6F8C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65588C0-3CA9-79FF-9806-871C0B0B9669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95D8057-871F-DCF0-1A76-0DB80618F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1109F9-E9A9-6BE0-CFC6-E90F17A77BFB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F1B17C-2BD2-1D4F-99A7-DBC7475CBF3D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6BE3990-C868-4F8B-D363-BCC1663F3CAE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3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1590D06-EE3E-502F-9CB0-175E5BFA6FDE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9411A05-67A9-A408-9DB9-D68306EC3237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CB1D44-F29B-2A9D-C07D-DC81A360357A}"/>
              </a:ext>
            </a:extLst>
          </p:cNvPr>
          <p:cNvSpPr txBox="1"/>
          <p:nvPr/>
        </p:nvSpPr>
        <p:spPr>
          <a:xfrm>
            <a:off x="-10580231" y="2218172"/>
            <a:ext cx="9103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should be populated when creating a Reimbursement from a completed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immutable after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module receives liquidation signal upon submission.</a:t>
            </a:r>
            <a:br>
              <a:rPr lang="en-US" dirty="0"/>
            </a:br>
            <a:r>
              <a:rPr lang="en-US" dirty="0"/>
              <a:t>Travel status changes to </a:t>
            </a:r>
            <a:r>
              <a:rPr lang="en-US" b="1" dirty="0"/>
              <a:t>Pending Reimbursement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47AE6-C5BA-2A09-4480-D784EBE61D42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7C87CD92-C680-A22D-24FD-2D7470C219F3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B4E89EF-9D43-82FC-F33E-AB1E3B23008D}"/>
              </a:ext>
            </a:extLst>
          </p:cNvPr>
          <p:cNvSpPr txBox="1"/>
          <p:nvPr/>
        </p:nvSpPr>
        <p:spPr>
          <a:xfrm>
            <a:off x="-12021217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AD68E-C596-3792-B84E-093F7EC3E7CC}"/>
              </a:ext>
            </a:extLst>
          </p:cNvPr>
          <p:cNvSpPr txBox="1"/>
          <p:nvPr/>
        </p:nvSpPr>
        <p:spPr>
          <a:xfrm>
            <a:off x="-11654378" y="2218172"/>
            <a:ext cx="81139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view for their own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Sorting by id, paid progress, amount, status, date submitted and last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by ID, Reference No, or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Indicator for Deadline Flags (expiring and expired)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Invoice Preview Dialog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 operations (Delete and View)</a:t>
            </a:r>
          </a:p>
        </p:txBody>
      </p: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2B212ADB-BE16-A25F-F51F-F851D842B4BE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DF2C90-F287-359A-F2EF-27E4CBEBA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274378" y="2170468"/>
            <a:ext cx="10492131" cy="3938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90FEE1-39D3-491E-CBC6-3CD1DFFDA022}"/>
              </a:ext>
            </a:extLst>
          </p:cNvPr>
          <p:cNvSpPr txBox="1"/>
          <p:nvPr/>
        </p:nvSpPr>
        <p:spPr>
          <a:xfrm>
            <a:off x="17836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Search Target Filter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109964-4BF2-A050-C836-EF0BC2343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675" y="2727627"/>
            <a:ext cx="5557802" cy="28339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7B2A35-7F1D-8FF8-3E7C-7E5BFFA457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860" y="2533800"/>
            <a:ext cx="548392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98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807C-BED3-4F50-849B-14166A94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3B0208-7306-DD4F-E0C9-E8E9382BADB7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4CB307B-B4E4-1BC2-52B2-7CA07F187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7C75940-EDD9-04ED-378F-6CE90AB6F1A0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C1AB04-5D93-DEE4-0E43-474BCAE2AF02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7EDB05-AAED-EB58-B0D4-6600A56B48E2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EC3920-D955-9034-8757-47BCB22333C6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C0A04B9-9290-A415-70AF-12E024C705AD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32E8A-3174-09D0-97AF-0DBC32366F2B}"/>
              </a:ext>
            </a:extLst>
          </p:cNvPr>
          <p:cNvSpPr txBox="1"/>
          <p:nvPr/>
        </p:nvSpPr>
        <p:spPr>
          <a:xfrm>
            <a:off x="-10580231" y="2218172"/>
            <a:ext cx="91038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should be populated when creating a Reimbursement from a completed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ID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is immutable after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Travel module receives liquidation signal upon submission.</a:t>
            </a:r>
            <a:br>
              <a:rPr lang="en-US" dirty="0"/>
            </a:br>
            <a:r>
              <a:rPr lang="en-US" dirty="0"/>
              <a:t>Travel status changes to </a:t>
            </a:r>
            <a:r>
              <a:rPr lang="en-US" b="1" dirty="0"/>
              <a:t>Pending Reimbursement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52A77-DCAF-911E-A063-B2911D522FEB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3F0D32D6-3436-5BF3-A09A-2E816CA97983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235299-37B9-209C-CEEA-E0AA69946D47}"/>
              </a:ext>
            </a:extLst>
          </p:cNvPr>
          <p:cNvSpPr txBox="1"/>
          <p:nvPr/>
        </p:nvSpPr>
        <p:spPr>
          <a:xfrm>
            <a:off x="-12021217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E963C-F83C-581A-ACAE-50F6DEB47363}"/>
              </a:ext>
            </a:extLst>
          </p:cNvPr>
          <p:cNvSpPr txBox="1"/>
          <p:nvPr/>
        </p:nvSpPr>
        <p:spPr>
          <a:xfrm>
            <a:off x="-11654378" y="2218172"/>
            <a:ext cx="81139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Requestor view for their own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Sorting by id, paid progress, amount, status, date submitted and last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 by ID, Reference No, or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Indicator for Deadline Flags (expiring and expired)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Invoice Preview Dialog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 operations (Delete and View)</a:t>
            </a:r>
          </a:p>
        </p:txBody>
      </p: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70ECF0AA-4049-7995-9EDF-275270FE6287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3182E-7F3F-3416-D10B-1473D26BC1AD}"/>
              </a:ext>
            </a:extLst>
          </p:cNvPr>
          <p:cNvSpPr txBox="1"/>
          <p:nvPr/>
        </p:nvSpPr>
        <p:spPr>
          <a:xfrm>
            <a:off x="17836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Search Target Filter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DE78B9-D7C9-E873-0CCE-DACBDAA42D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79" y="2327599"/>
            <a:ext cx="4397375" cy="36102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4AD175-691A-F080-C1F5-B5C3B37EED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0212" y="2455456"/>
            <a:ext cx="8026509" cy="321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07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F8B8-0FC6-AE13-97D4-F75E2C26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B0D320-3875-FA8B-E971-1A3149FA1499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D7F8D5D-DB13-D069-30CD-3B619BD07F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D43554-7E41-5536-4BBD-FB1A61DA4687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8D4A49-47BD-6D4D-6C3B-A7E52DEE8791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D440DD-E7AD-D3C6-A1E7-D3DC9890B098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8A4BBB7-1F29-B61C-896B-672910788251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7C25BE-4711-CB83-4679-3DA08D775484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BDEB1-462E-9A1C-B725-2BE13DB038FD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886F504B-60AC-5235-57B6-20029CA3858A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B63CE3CE-A5A7-CD46-FE6E-ADCAB62DB4E9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5B55A2-41DF-2ADD-7CD9-12185E514C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562" t="11349" r="6094" b="12125"/>
          <a:stretch>
            <a:fillRect/>
          </a:stretch>
        </p:blipFill>
        <p:spPr>
          <a:xfrm>
            <a:off x="2725344" y="2564148"/>
            <a:ext cx="7515225" cy="36665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90827CA-ABAC-411E-5F32-5B8980D1F2EB}"/>
              </a:ext>
            </a:extLst>
          </p:cNvPr>
          <p:cNvSpPr txBox="1"/>
          <p:nvPr/>
        </p:nvSpPr>
        <p:spPr>
          <a:xfrm>
            <a:off x="1783682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Search Target Filter</a:t>
            </a:r>
          </a:p>
        </p:txBody>
      </p:sp>
    </p:spTree>
    <p:extLst>
      <p:ext uri="{BB962C8B-B14F-4D97-AF65-F5344CB8AC3E}">
        <p14:creationId xmlns:p14="http://schemas.microsoft.com/office/powerpoint/2010/main" val="1726341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4D1E-EB40-E02F-C825-AA53DA93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4FE6FF6-553D-A02A-E608-1F82321CD3ED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3548D58-935C-3307-559D-90403F5D8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334DFB-BD6A-B964-7A4E-09BE07208263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3A7872-A5F9-4871-9BD7-8BB5363A391D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D6EC85-7414-0634-D89E-5F8CCC6C183D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558F8F1-7CC5-CEE6-22CC-163BC8CBB85E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13AFB6-A95B-8A69-D6E2-5185DC85EC06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44FA2B-0A68-99C0-E3A1-71B158FD053F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E6AB8496-335A-0D39-4F59-3F0B2CEE2B47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D4A64F0A-B70C-DA1D-003A-0B86DBE41B4D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430E2-41E8-1081-D84D-F8F051FEFD7D}"/>
              </a:ext>
            </a:extLst>
          </p:cNvPr>
          <p:cNvSpPr txBox="1"/>
          <p:nvPr/>
        </p:nvSpPr>
        <p:spPr>
          <a:xfrm>
            <a:off x="-11351747" y="1563523"/>
            <a:ext cx="71621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Search Target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62D8E37-23F0-58D7-9CFE-80F524465F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562" t="11349" r="6094" b="12125"/>
          <a:stretch>
            <a:fillRect/>
          </a:stretch>
        </p:blipFill>
        <p:spPr>
          <a:xfrm>
            <a:off x="-10410085" y="2564148"/>
            <a:ext cx="7515225" cy="3666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DFAA74-C8DB-FAF9-C5A1-8EC603612EAF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Date Range Filter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5445E8-7110-0AAA-B53A-28DDD01FEB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4622" y="2262800"/>
            <a:ext cx="2714823" cy="24955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2C97A-1824-6E4B-2D70-2503928B674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193" t="7961"/>
          <a:stretch>
            <a:fillRect/>
          </a:stretch>
        </p:blipFill>
        <p:spPr>
          <a:xfrm>
            <a:off x="6419850" y="2546537"/>
            <a:ext cx="2956000" cy="381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15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D30B-F440-24B2-71B2-AF0BF5E7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A072BC0-D5B9-1E19-0F8F-55BC19FD0563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185E229-CF9A-D268-9D89-797472F74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F07F7C-2BA6-1C37-3A61-64CA7784785C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FC86D0-6C3E-C2BF-5869-FF5BEB9FDA59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B486FA1-8667-A2DF-63B7-1084F1E7D4B6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9BD4A57-06AD-6F74-E0A9-9453D9AD95FA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8BD6AB-C0EC-768F-6783-2AFA9E16FB95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03466-852E-C59E-8BFC-255D52532CF5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71252385-8B10-24D6-DD8E-BE49B53DBCBE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2830320A-8943-C00A-7891-45B572428661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54795-C19E-301C-C6C6-2D87DD7E3379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Date Range Filter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EA4D91-9E6B-B627-BB79-10A8FC955A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00" t="10193" r="5469" b="11121"/>
          <a:stretch>
            <a:fillRect/>
          </a:stretch>
        </p:blipFill>
        <p:spPr>
          <a:xfrm>
            <a:off x="2288520" y="2262800"/>
            <a:ext cx="8818974" cy="420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53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19CE3-6E2F-4E32-51FD-5B0121EE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E5B61EB-83EE-0D4B-B9D3-67300C87DBF3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351F6B2-7550-6B35-4AAF-2743A657C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0543C4-6618-C516-6D9F-499D65F5C5F0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A617CC-1B04-8106-9A94-280D2B4DA948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517E78-4D35-C040-3B2E-82B5C7D19CC6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B99D2CE-E34F-D847-C5D9-4BB5F5F45CC6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8788D85-3BF8-955D-54C7-1847DEC13BED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B190E-9B38-7666-5102-0C782A3A1A6F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75D00C6F-7A2A-2C1E-72BE-3DE0EC44CD5D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4C244B1F-65ED-18F1-1DDD-C5642F29C9DA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30A689-CC6E-15CF-45B1-E6A0E3EE6A9A}"/>
              </a:ext>
            </a:extLst>
          </p:cNvPr>
          <p:cNvSpPr txBox="1"/>
          <p:nvPr/>
        </p:nvSpPr>
        <p:spPr>
          <a:xfrm>
            <a:off x="-11990375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Date Range Filter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C1D68-F180-BEB1-B0BC-9E4623B051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00" t="10193" r="5469" b="11121"/>
          <a:stretch>
            <a:fillRect/>
          </a:stretch>
        </p:blipFill>
        <p:spPr>
          <a:xfrm>
            <a:off x="-11485538" y="2262800"/>
            <a:ext cx="8818974" cy="4204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0B3593-ED80-5E4C-47D9-B960875BF861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Multi Field Sorting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294005-3237-0261-2E1A-C92015FA1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3683" y="2503336"/>
            <a:ext cx="9426872" cy="338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74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13F63-F288-D70B-77A2-6880F4F9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990FAA-7C48-5AF0-25DE-37447287F1F8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C181410-5562-DAD3-D55A-409E1993B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C3838C-A81F-50AD-6E5F-9704D4C60701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F0E6A3-1A8B-C944-4BB8-CECEF672ABEB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85C9E2-0C7A-20B0-8D7B-B00227487585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8845D9-8C53-6D40-13CE-1958C62F77B4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BE34D46-4FE4-9F9B-80CC-7103E5018404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520AD-BAA1-A346-4DF2-274ADA0DC8E2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0C178DCD-5877-A64F-C6C7-9506521280D9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ECA96EA4-45E2-B4D2-7722-6483BF11EDB5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A8E69-ED68-D2D2-8D08-75CD3408737A}"/>
              </a:ext>
            </a:extLst>
          </p:cNvPr>
          <p:cNvSpPr txBox="1"/>
          <p:nvPr/>
        </p:nvSpPr>
        <p:spPr>
          <a:xfrm>
            <a:off x="-11990375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Date Range Filter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8B5AAF-E9EA-F258-C4A7-10AC82E763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00" t="10193" r="5469" b="11121"/>
          <a:stretch>
            <a:fillRect/>
          </a:stretch>
        </p:blipFill>
        <p:spPr>
          <a:xfrm>
            <a:off x="-11485538" y="2262800"/>
            <a:ext cx="8818974" cy="4204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0EB784-23FD-4F3C-3512-85CC97C6EF87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Multi Field Sorting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7DD8E-4FCC-2800-2E52-E4133A57AA1B}"/>
              </a:ext>
            </a:extLst>
          </p:cNvPr>
          <p:cNvSpPr txBox="1"/>
          <p:nvPr/>
        </p:nvSpPr>
        <p:spPr>
          <a:xfrm>
            <a:off x="1833022" y="2397186"/>
            <a:ext cx="70806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SearchParam</a:t>
            </a:r>
            <a:r>
              <a:rPr lang="en-US" b="1" dirty="0"/>
              <a:t> Format</a:t>
            </a:r>
            <a:r>
              <a:rPr lang="en-US" dirty="0"/>
              <a:t>: ?</a:t>
            </a:r>
            <a:r>
              <a:rPr lang="en-US" dirty="0" err="1"/>
              <a:t>sort_strategy</a:t>
            </a:r>
            <a:r>
              <a:rPr lang="en-US" dirty="0"/>
              <a:t>=&lt;field1:order&gt;,&lt;field2:order&gt;…</a:t>
            </a:r>
          </a:p>
          <a:p>
            <a:r>
              <a:rPr lang="en-US" dirty="0"/>
              <a:t>e.g.</a:t>
            </a:r>
          </a:p>
          <a:p>
            <a:r>
              <a:rPr lang="en-US" dirty="0"/>
              <a:t>	sort=</a:t>
            </a:r>
            <a:r>
              <a:rPr lang="en-US" dirty="0" err="1"/>
              <a:t>status:asc,total_amountv:des</a:t>
            </a:r>
            <a:endParaRPr lang="en-US" dirty="0"/>
          </a:p>
          <a:p>
            <a:r>
              <a:rPr lang="en-US" dirty="0"/>
              <a:t>	sort=</a:t>
            </a:r>
            <a:r>
              <a:rPr lang="en-US" dirty="0" err="1"/>
              <a:t>last_submitted:des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80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E994-897A-E1A1-704E-7BBBB0D3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503B65E-58BC-394C-43BB-231E13B7C55A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92C1C86-304D-52C6-E9C0-CA84700E94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2172DC-1283-DE7A-3980-E4A5E2B6EC43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11C699-8EF3-08EC-E05B-1C32A832ED3D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57276F8-0737-F3B6-B6E4-916665A99ADA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62CE90-4A80-7DE6-9D82-74EC868B3006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66DCADA-4CAD-C01E-9043-785BB69F561F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9E506-ACBD-F00C-2DCF-E28DBEC9C6A3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3893B45D-C843-4AAF-AB53-B7DCAEFC61D7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99E2E335-9E9A-2485-CDC8-485475ABDF1A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91636-F3C7-FAF9-CB6D-A98F1BEFC161}"/>
              </a:ext>
            </a:extLst>
          </p:cNvPr>
          <p:cNvSpPr txBox="1"/>
          <p:nvPr/>
        </p:nvSpPr>
        <p:spPr>
          <a:xfrm>
            <a:off x="-11990375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Date Range Filter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221D55-0CC0-A82D-486A-B5A1DB717C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00" t="10193" r="5469" b="11121"/>
          <a:stretch>
            <a:fillRect/>
          </a:stretch>
        </p:blipFill>
        <p:spPr>
          <a:xfrm>
            <a:off x="-11485538" y="2262800"/>
            <a:ext cx="8818974" cy="4204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FDB28C-C183-1E6D-E0E4-B4DF7A11CE80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Multi Field Sorting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8ACBC5-8C6F-C112-8C24-4135AFC013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9254" y="2919197"/>
            <a:ext cx="7289566" cy="39388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4DC499-14CE-D143-EEB8-BF64746F73F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83119" r="9335"/>
          <a:stretch>
            <a:fillRect/>
          </a:stretch>
        </p:blipFill>
        <p:spPr>
          <a:xfrm>
            <a:off x="2319254" y="2262800"/>
            <a:ext cx="7234027" cy="65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04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93D2-B86A-66FE-E96C-CB3344BC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7BEEEE0-7C14-B114-9CB8-8DD5B65AF3FA}"/>
              </a:ext>
            </a:extLst>
          </p:cNvPr>
          <p:cNvSpPr/>
          <p:nvPr/>
        </p:nvSpPr>
        <p:spPr>
          <a:xfrm>
            <a:off x="0" y="0"/>
            <a:ext cx="12192000" cy="662940"/>
          </a:xfrm>
          <a:prstGeom prst="rect">
            <a:avLst/>
          </a:prstGeom>
          <a:solidFill>
            <a:srgbClr val="1F2A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EDDEE1-8210-3E84-6662-02B1BF4277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9239" y="133350"/>
            <a:ext cx="1094873" cy="39624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ADA7EEB-0614-0107-C19B-67C7EA9E8685}"/>
              </a:ext>
            </a:extLst>
          </p:cNvPr>
          <p:cNvSpPr/>
          <p:nvPr/>
        </p:nvSpPr>
        <p:spPr>
          <a:xfrm>
            <a:off x="2161010" y="141988"/>
            <a:ext cx="3407940" cy="39624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42910F-7104-FB0F-07AC-656AAFD424D9}"/>
              </a:ext>
            </a:extLst>
          </p:cNvPr>
          <p:cNvSpPr/>
          <p:nvPr/>
        </p:nvSpPr>
        <p:spPr>
          <a:xfrm>
            <a:off x="4433447" y="194456"/>
            <a:ext cx="1026309" cy="291304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631257-14F0-7317-831D-C423ABFA0FC7}"/>
              </a:ext>
            </a:extLst>
          </p:cNvPr>
          <p:cNvSpPr/>
          <p:nvPr/>
        </p:nvSpPr>
        <p:spPr>
          <a:xfrm>
            <a:off x="3289681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4" action="ppaction://hlinksldjump"/>
              </a:rPr>
              <a:t>RC 1.4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C4288A8-7635-14FF-F933-3E498F0AF151}"/>
              </a:ext>
            </a:extLst>
          </p:cNvPr>
          <p:cNvSpPr/>
          <p:nvPr/>
        </p:nvSpPr>
        <p:spPr>
          <a:xfrm>
            <a:off x="4429315" y="194456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 1.6</a:t>
            </a:r>
            <a:endParaRPr lang="en-US" sz="1600" b="1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533B4D-E60B-B42D-75BD-F819A6BDC292}"/>
              </a:ext>
            </a:extLst>
          </p:cNvPr>
          <p:cNvSpPr/>
          <p:nvPr/>
        </p:nvSpPr>
        <p:spPr>
          <a:xfrm>
            <a:off x="2180079" y="194839"/>
            <a:ext cx="1090531" cy="291304"/>
          </a:xfrm>
          <a:prstGeom prst="roundRect">
            <a:avLst/>
          </a:prstGeom>
          <a:noFill/>
          <a:ln>
            <a:noFill/>
          </a:ln>
          <a:effectLst>
            <a:outerShdw blurRad="25400" dist="12700" dir="5400000" sx="99000" sy="99000" algn="t" rotWithShape="0">
              <a:schemeClr val="tx1">
                <a:alpha val="46000"/>
              </a:scheme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626262"/>
                </a:solidFill>
                <a:latin typeface="Inter" panose="02000503000000020004" pitchFamily="2" charset="0"/>
                <a:ea typeface="Inter" panose="02000503000000020004" pitchFamily="2" charset="0"/>
                <a:hlinkClick r:id="rId6" action="ppaction://hlinksldjump"/>
              </a:rPr>
              <a:t>RC 1.1</a:t>
            </a:r>
            <a:endParaRPr lang="en-US" sz="1600" b="1" dirty="0">
              <a:solidFill>
                <a:srgbClr val="62626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4363D-924F-84D3-1E48-560E7D30BB81}"/>
              </a:ext>
            </a:extLst>
          </p:cNvPr>
          <p:cNvSpPr txBox="1"/>
          <p:nvPr/>
        </p:nvSpPr>
        <p:spPr>
          <a:xfrm>
            <a:off x="1783683" y="857673"/>
            <a:ext cx="3597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Reimbursement Queue</a:t>
            </a:r>
          </a:p>
        </p:txBody>
      </p:sp>
      <p:cxnSp>
        <p:nvCxnSpPr>
          <p:cNvPr id="5" name="Separator 100">
            <a:extLst>
              <a:ext uri="{FF2B5EF4-FFF2-40B4-BE49-F238E27FC236}">
                <a16:creationId xmlns:a16="http://schemas.microsoft.com/office/drawing/2014/main" id="{80DD5F92-9BA1-4646-462E-87B61BAA94B2}"/>
              </a:ext>
            </a:extLst>
          </p:cNvPr>
          <p:cNvCxnSpPr/>
          <p:nvPr/>
        </p:nvCxnSpPr>
        <p:spPr>
          <a:xfrm>
            <a:off x="1833022" y="2130227"/>
            <a:ext cx="9426872" cy="0"/>
          </a:xfrm>
          <a:prstGeom prst="line">
            <a:avLst/>
          </a:prstGeom>
          <a:ln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ploy to STG 2">
            <a:extLst>
              <a:ext uri="{FF2B5EF4-FFF2-40B4-BE49-F238E27FC236}">
                <a16:creationId xmlns:a16="http://schemas.microsoft.com/office/drawing/2014/main" id="{8A2BAB32-9163-59BA-6DB1-6CBB6E08AFD0}"/>
              </a:ext>
            </a:extLst>
          </p:cNvPr>
          <p:cNvSpPr/>
          <p:nvPr/>
        </p:nvSpPr>
        <p:spPr>
          <a:xfrm>
            <a:off x="5519845" y="964864"/>
            <a:ext cx="1291011" cy="247282"/>
          </a:xfrm>
          <a:prstGeom prst="roundRect">
            <a:avLst>
              <a:gd name="adj" fmla="val 50000"/>
            </a:avLst>
          </a:prstGeom>
          <a:solidFill>
            <a:srgbClr val="C2AB7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DEPLOY TO STG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06E0D-7B1D-3C7A-14B1-A82DA1038F9C}"/>
              </a:ext>
            </a:extLst>
          </p:cNvPr>
          <p:cNvSpPr txBox="1"/>
          <p:nvPr/>
        </p:nvSpPr>
        <p:spPr>
          <a:xfrm>
            <a:off x="-11990375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Date Range Filter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18BC2-A699-8229-3BDD-631CCED7A1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00" t="10193" r="5469" b="11121"/>
          <a:stretch>
            <a:fillRect/>
          </a:stretch>
        </p:blipFill>
        <p:spPr>
          <a:xfrm>
            <a:off x="-11485538" y="2262800"/>
            <a:ext cx="8818974" cy="4204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DF4D44-9F33-E663-3B28-AB4C73B490DF}"/>
              </a:ext>
            </a:extLst>
          </p:cNvPr>
          <p:cNvSpPr txBox="1"/>
          <p:nvPr/>
        </p:nvSpPr>
        <p:spPr>
          <a:xfrm>
            <a:off x="1783683" y="1514070"/>
            <a:ext cx="51104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SemiBold" panose="02000503000000020004" pitchFamily="2" charset="0"/>
                <a:ea typeface="Inter SemiBold" panose="02000503000000020004" pitchFamily="2" charset="0"/>
                <a:cs typeface="Rubik" panose="02000604000000020004" pitchFamily="2" charset="-79"/>
              </a:rPr>
              <a:t>Multi Field Sorting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81AFF9-D729-4014-A70F-E23E686B86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210771"/>
            <a:ext cx="8321040" cy="4513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99F012-15B8-D103-D121-75C642C3E8E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625" r="39875" b="24033"/>
          <a:stretch>
            <a:fillRect/>
          </a:stretch>
        </p:blipFill>
        <p:spPr>
          <a:xfrm>
            <a:off x="8321040" y="2210771"/>
            <a:ext cx="3945629" cy="26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47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1103</Words>
  <Application>Microsoft Office PowerPoint</Application>
  <PresentationFormat>Widescreen</PresentationFormat>
  <Paragraphs>274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Inter SemiBold</vt:lpstr>
      <vt:lpstr>Arial</vt:lpstr>
      <vt:lpstr>Aptos</vt:lpstr>
      <vt:lpstr>Inter</vt:lpstr>
      <vt:lpstr>Rubik</vt:lpstr>
      <vt:lpstr>Aptos Display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</dc:creator>
  <cp:lastModifiedBy>Josh</cp:lastModifiedBy>
  <cp:revision>1</cp:revision>
  <dcterms:created xsi:type="dcterms:W3CDTF">2026-06-14T20:15:27Z</dcterms:created>
  <dcterms:modified xsi:type="dcterms:W3CDTF">2026-06-15T00:28:05Z</dcterms:modified>
</cp:coreProperties>
</file>